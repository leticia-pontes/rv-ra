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534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 ·  MÓDULO 03  ·  GRUPO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Circuito em placa de prototipagem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D6DA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bancada em escala 1:1, a pessoa pega LEDs, resistor e fios, prende na protoboard e monta o circuito VCC → LED → GND.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8463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Ocon · Leticia Alves · Leandro Poletti · Laura Yumi · Breno Colonello</a:t>
            </a:r>
            <a:endParaRPr lang="en-US" sz="14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github.com/leticia-pontes/rv-ra</a:t>
            </a: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etiqueta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modulo-03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98080" y="155448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EDEBE6"/>
          </a:solidFill>
          <a:ln w="12700">
            <a:solidFill>
              <a:srgbClr val="EDEB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1810512"/>
            <a:ext cx="3474720" cy="0"/>
          </a:xfrm>
          <a:prstGeom prst="line">
            <a:avLst/>
          </a:prstGeom>
          <a:noFill/>
          <a:ln w="31750">
            <a:solidFill>
              <a:srgbClr val="D32F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2121408"/>
            <a:ext cx="3474720" cy="0"/>
          </a:xfrm>
          <a:prstGeom prst="line">
            <a:avLst/>
          </a:prstGeom>
          <a:noFill/>
          <a:ln w="31750">
            <a:solidFill>
              <a:srgbClr val="1976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4736592"/>
            <a:ext cx="3474720" cy="0"/>
          </a:xfrm>
          <a:prstGeom prst="line">
            <a:avLst/>
          </a:prstGeom>
          <a:noFill/>
          <a:ln w="31750">
            <a:solidFill>
              <a:srgbClr val="D32F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5047488"/>
            <a:ext cx="3474720" cy="0"/>
          </a:xfrm>
          <a:prstGeom prst="line">
            <a:avLst/>
          </a:prstGeom>
          <a:noFill/>
          <a:ln w="31750">
            <a:solidFill>
              <a:srgbClr val="1976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3374136"/>
            <a:ext cx="3657600" cy="109728"/>
          </a:xfrm>
          <a:prstGeom prst="rect">
            <a:avLst/>
          </a:prstGeom>
          <a:solidFill>
            <a:srgbClr val="D4D1C9"/>
          </a:solidFill>
          <a:ln w="12700">
            <a:solidFill>
              <a:srgbClr val="D4D1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31836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5054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8273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1491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44710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7928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51147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4365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57584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10802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64021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17239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70458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23676" y="23911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31836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85054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8273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1491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44710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97928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51147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04365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57584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10802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364021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17239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70458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23676" y="26197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31836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85054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38273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1491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44710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97928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51147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4365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57584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10802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364021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17239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870458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123676" y="28483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31836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85054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38273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91491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44710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97928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51147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04365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857584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110802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64021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17239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870458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123676" y="307695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31836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85054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8273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91491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44710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97928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51147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4365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57584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110802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364021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17239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870458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123676" y="37170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831836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85054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338273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91491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844710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097928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51147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604365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57584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110802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364021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617239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870458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123676" y="39456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831836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085054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338273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91491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844710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097928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351147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604365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857584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110802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364021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617239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870458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1123676" y="41742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831836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085054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338273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91491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844710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097928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351147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604365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857584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110802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364021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617239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870458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1123676" y="4402836"/>
            <a:ext cx="64008" cy="64008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893808" y="2468880"/>
            <a:ext cx="310896" cy="310896"/>
          </a:xfrm>
          <a:prstGeom prst="ellipse">
            <a:avLst/>
          </a:prstGeom>
          <a:solidFill>
            <a:srgbClr val="E53935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321040" y="2377440"/>
            <a:ext cx="1234440" cy="1097280"/>
          </a:xfrm>
          <a:prstGeom prst="arc">
            <a:avLst>
              <a:gd name="adj1" fmla="val 10800000"/>
              <a:gd name="adj2" fmla="val 0"/>
            </a:avLst>
          </a:prstGeom>
          <a:noFill/>
          <a:ln w="508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1, 2 E 4  ·  docs/especificacao.md  ·  src/scene.ts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2743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cena e a tarefa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72184"/>
            <a:ext cx="128016" cy="12801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17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um circuito na protoboard, de VCC até GND passando por um LED.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 quando: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busca no grafo de conexões acha esse caminho e o LED fica emissivo 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(validação ainda não implementada, slide 7).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676656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 EM METROS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Tampo da mesa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 × 0,04 × 0,70 (tampo a 1,00 do chão)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0,165 × 0,012 × 0,055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Ø 0,010 · pinos 0,014 / 0,011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Fio jumper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vão 0,035 / 0,045 / 0,060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 0,015 · Ø 0,006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Bandejas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0,18 × 0,008 × 0,16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 de custo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 × 0,04, a 0,50 do olho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635240" y="1371600"/>
            <a:ext cx="4114800" cy="4572000"/>
          </a:xfrm>
          <a:prstGeom prst="roundRect">
            <a:avLst>
              <a:gd name="adj" fmla="val 2222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09560" y="493776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D3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30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furos desenhados, de ~830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9738360" y="49377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97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cm</a:t>
            </a:r>
            <a:endParaRPr lang="en-US" sz="30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seleção do LED de 1 cm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7909560" y="1655064"/>
            <a:ext cx="128016" cy="128016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10728" y="16002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201168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cena endurece: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orçamento do quadro. Uma placa real tem cerca de 830 furos repetidos. Hoje desenhamos 84.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armadilha: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de milímetros. O LED tem 1 cm e o raio do controle quase não acertava. Cada peça ganhou uma área de seleção invisível (3 cm no LED).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as peças para facilitar. Quebraria a escala 1:1, que é o que o visor precisa mostrar.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 ·  docs/especificacao.md, seção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2743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regimes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36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01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cena por uma janela, sem tocar no mundo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860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REFERÊNCIA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 XR: coordenadas da cena, câmera orbital em volta da placa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do corpo, só o mouse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CONTRA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mesa virtual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4224528"/>
            <a:ext cx="118872" cy="118872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142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hoje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0248" y="13716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8848" y="1536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Visor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1901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o mundo inteiro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22860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REFERÊNCIA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local-floor (origem no chão da sala)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 em 6DoF e dois controles (raio e gatilho)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CONTRA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chão: tampo virtual a 1,00 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98848" y="4224528"/>
            <a:ext cx="118872" cy="118872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81728" y="4142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no emulador, sem visor real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83296" y="137160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11896" y="1536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Câmera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19019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 mundo e põe a cena sobre ele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2286000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DE REFERÊNCIA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local-floor e viewer para o hit-test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RASTREIA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celular em 6DoF e planos horizontais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CONTRA</a:t>
            </a:r>
            <a:endParaRPr lang="en-US" sz="9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tampo de uma mesa física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11896" y="4224528"/>
            <a:ext cx="118872" cy="118872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94776" y="41422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promessa: o toque planta um cilindro de teste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11274552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038344"/>
            <a:ext cx="128016" cy="128016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49834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 ·  O QUE CADA UM VAI TER DE PROVAR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3492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Tela: </a:t>
            </a: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tarefa inteira fecha sem equipamento.  </a:t>
            </a: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Visor: </a:t>
            </a: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placa de 16,5 cm aparece em 1:1 e dá para alinhar um pino no furo com profundidade.  </a:t>
            </a: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Câmera: </a:t>
            </a: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 placa não desliza sobre a mesa real quando a pessoa anda em volta.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o visor como "tela com óculos". O que o distingue é apagar o mundo, e isso muda o que se rastreia.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5 E 6  ·  src/capabilities.ts  ·  src/ar.ts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2743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aparelho oferece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72184"/>
            <a:ext cx="128016" cy="12801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17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src/capabilities.ts:197–199  ·  pergunta real ao aparelho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6309360" cy="756575"/>
          </a:xfrm>
          <a:prstGeom prst="roundRect">
            <a:avLst>
              <a:gd name="adj" fmla="val 7252"/>
            </a:avLst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103120"/>
            <a:ext cx="6035040" cy="537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target.state = (await navigator.xr.isSessionSupported(mode))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'suportado'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'não suportado';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14559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src/capabilities.ts:365–370  ·  ausente e negado são estados diferentes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170591"/>
            <a:ext cx="6309360" cy="1147206"/>
          </a:xfrm>
          <a:prstGeom prst="roundRect">
            <a:avLst>
              <a:gd name="adj" fmla="val 4782"/>
            </a:avLst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280319"/>
            <a:ext cx="6035040" cy="92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(error.name === 'NotSupportedError') {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state: 'não suportado', detail: `${error.name}: ${error.message}` };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(error.name === 'NotAllowedError' || error.name === 'SecurityError') {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state: 'negado', detail: `${error.name}: ${error.message}` };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82389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src/ar.ts:39  ·  hit-test só em sessão de 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738421"/>
            <a:ext cx="6309360" cy="357805"/>
          </a:xfrm>
          <a:prstGeom prst="roundRect">
            <a:avLst>
              <a:gd name="adj" fmla="val 15333"/>
            </a:avLst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848149"/>
            <a:ext cx="6035040" cy="138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(!session || session.environmentBlendMode === 'opaque') return; // VR não usa hit-test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279106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assumisse sem perguntar: </a:t>
            </a: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silenciosa. O hit-test nunca chega, o retículo não aparece e nada acusa erro. No teste, o emulador concedia hit-test até no VR, e cada clique plantava um cilindro. Por isso a linha 39 confere o modo.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ENDEREÇO, DUAS CLASSES</a:t>
            </a:r>
            <a:endParaRPr lang="en-US" sz="1100" dirty="0"/>
          </a:p>
        </p:txBody>
      </p:sp>
      <p:pic>
        <p:nvPicPr>
          <p:cNvPr id="18" name="Image 0" descr="Relatório do painel no PC Windows sem emulad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783080"/>
            <a:ext cx="2240280" cy="1582496"/>
          </a:xfrm>
          <a:prstGeom prst="rect">
            <a:avLst/>
          </a:prstGeom>
        </p:spPr>
      </p:pic>
      <p:pic>
        <p:nvPicPr>
          <p:cNvPr id="19" name="Image 1" descr="Relatório do painel no Chrome com emulador Meta Ques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2" y="1783080"/>
            <a:ext cx="2240280" cy="1683903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086600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Windows · Chrome 150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e AR: não suportado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9491472" y="3657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150 + emulador (Meta Quest 3)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e AR: suportado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086600" y="4434840"/>
            <a:ext cx="4645152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0" y="4626864"/>
            <a:ext cx="128016" cy="128016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516368" y="45720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315200" y="48920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pede cair para a tela. Negado pede avisar e deixar tentar de novo. Tratar os dois igual esconde qual dos problemas aconteceu.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7  ·  src/scene.ts  ·  src/main.ts  ·  src/controllers.ts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2743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cena como árvore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394960" cy="3703320"/>
          </a:xfrm>
          <a:prstGeom prst="roundRect">
            <a:avLst>
              <a:gd name="adj" fmla="val 197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63624"/>
            <a:ext cx="128016" cy="12801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508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ÁRVORE DO GRUPO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luzes · grade do chão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Bancada (Group): tampo · 4 pernas · 2 bandejas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Protoboard (Group), y = 1,008 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corpo · canaleta · 4 linhas · 84 furos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peça solta sobre a placa  ← parentesco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LED ×3 (Group): cúpula · corpo · aba · 2 pinos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Fio ×3 (Group): tubo · 2 ponteiras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Resistor (Group): corpo · 4 faixas · 2 terminais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Câmera → indicador de custo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Controle ×2 → peça segurada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peça também tem uma área de seleção invisível como filha.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472184"/>
            <a:ext cx="128016" cy="12801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417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737360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src/scene.ts:149–154  ·  furos em coordenadas da placa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993392"/>
            <a:ext cx="5559552" cy="1293693"/>
          </a:xfrm>
          <a:prstGeom prst="roundRect">
            <a:avLst>
              <a:gd name="adj" fmla="val 4241"/>
            </a:avLst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103120"/>
            <a:ext cx="5285232" cy="1074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x = -0.07; x &lt;= 0.07; x += 0.007)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z of [-0.015, -0.008, 0.008, 0.015]) {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hole = new THREE.Mesh(holeGeo, holeMat);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hole.rotation.x = -Math.PI / 2;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hole.position.set(x, 0.0062, z);</a:t>
            </a:r>
            <a:endParaRPr lang="en-US" sz="1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boardGroup.add(hole);</a:t>
            </a:r>
            <a:endParaRPr lang="en-US" sz="1100" dirty="0"/>
          </a:p>
        </p:txBody>
      </p:sp>
      <p:pic>
        <p:nvPicPr>
          <p:cNvPr id="15" name="Image 0" descr="Protoboard com peças pres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469965"/>
            <a:ext cx="2697480" cy="1043026"/>
          </a:xfrm>
          <a:prstGeom prst="rect">
            <a:avLst/>
          </a:prstGeom>
        </p:spPr>
      </p:pic>
      <p:pic>
        <p:nvPicPr>
          <p:cNvPr id="16" name="Image 1" descr="Protoboard movida com as peças pres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3469965"/>
            <a:ext cx="2697480" cy="104302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172200" y="4549567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presas na placa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9034272" y="4549567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movida: o que estava preso foi junto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5257800"/>
            <a:ext cx="11274552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431536"/>
            <a:ext cx="128016" cy="128016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932688" y="53766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31520" y="568756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Parentesco de projeto: </a:t>
            </a: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solta sobre a placa vira filha dela, porque na bancada real o fio e o LED ficam presos nos furos. Mover a placa leva as peças.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coordenadas absolutas. Mover a placa obrigaria a somar o deslocamento em 84 furos, 4 linhas e em cada peça presa, e girá-la obrigaria a refazer a rotação de cada um.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8  ·  src/controllers.ts  ·  src/reparent.ts  ·  docs/medidas.md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2743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Trocar de pai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72184"/>
            <a:ext cx="128016" cy="12801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17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src/controllers.ts:93  ·  pegar: a peça vira filha do controle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5577840" cy="398496"/>
          </a:xfrm>
          <a:prstGeom prst="roundRect">
            <a:avLst>
              <a:gd name="adj" fmla="val 13768"/>
            </a:avLst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103120"/>
            <a:ext cx="5303520" cy="17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controller.attach(target);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52904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src/controllers.ts:101–107  ·  soltar: filha da placa ou da cena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785080"/>
            <a:ext cx="5577840" cy="1244864"/>
          </a:xfrm>
          <a:prstGeom prst="roundRect">
            <a:avLst>
              <a:gd name="adj" fmla="val 4407"/>
            </a:avLst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894808"/>
            <a:ext cx="5303520" cy="1025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(isComponent(obj) &amp;&amp; isOverProtoboard(controller)) {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protoboard.attach(obj);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Reparenting de retorno: devolve o nó para o espaço do mundo 'scene'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scene.attach(obj);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assentar(obj, protoboard);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12824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que o attach faz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novo = (mundo do novo pai)⁻¹ × mundo do objeto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mundo = pai × local, o mundo do objeto não muda. O assentar vem depois, de propósito.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NO MUNDO, EM NÚMEROS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83080"/>
          <a:ext cx="5376672" cy="1828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MUNDO (m)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(m)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Fio antes, filho da cena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(0,020; 1,018; −0,490)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Fio depois, filho da placa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(0,020; 1,018; −0,490)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(0,020; 0,010; 0,010)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 +10 cm e 90° em 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(0,110; 1,018; −0,520)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(0,020; 0,010; 0,010)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Fronteira: pai girado, escala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(0,110; 1,018; −0,520)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(0,007; −0,110; −0,094)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 × 10⁻¹⁶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355080" y="3703320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por conferirTrocaDePai() ao abrir o ambiente (console, F12). three r185.</a:t>
            </a:r>
            <a:endParaRPr lang="en-US" sz="1000" dirty="0"/>
          </a:p>
        </p:txBody>
      </p:sp>
      <p:pic>
        <p:nvPicPr>
          <p:cNvPr id="17" name="Image 0" descr="Tabela da conferência da troca de pai no conso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023360"/>
            <a:ext cx="5376672" cy="14182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7200" y="55321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5678424"/>
            <a:ext cx="128016" cy="128016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32688" y="56235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31520" y="59161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a posição do controle para a peça a cada quadro. Seriam duas fontes de verdade para a mesma posição, com custo por peça em todo quadro, e a cópia ignora a rotação e a escala do pai. O attach é uma operação só, no momento da troca.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9  ·  src/main.ts  ·  src/performance.ts  ·  docs/medidas.md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789920" y="27432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Relógio, orçamento e o que falta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72184"/>
            <a:ext cx="128016" cy="128016"/>
          </a:xfrm>
          <a:prstGeom prst="ellipse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17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src/main.ts:55–69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4297680" cy="1765706"/>
          </a:xfrm>
          <a:prstGeom prst="roundRect">
            <a:avLst>
              <a:gd name="adj" fmla="val 3107"/>
            </a:avLst>
          </a:prstGeom>
          <a:solidFill>
            <a:srgbClr val="1B1F27"/>
          </a:solidFill>
          <a:ln w="12700">
            <a:solidFill>
              <a:srgbClr val="1B1F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103120"/>
            <a:ext cx="4023360" cy="154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clock = new THREE.Clock();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renderer.setAnimationLoop((_timestamp, frame) =&gt; {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frameCost.begin();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delta = clock.getDelta();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xr.update(delta);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B9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renderer.render(xr.scene, xr.camera);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frameCost.end(delta);</a:t>
            </a:r>
            <a:endParaRPr lang="en-US" sz="9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348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0,51 ms</a:t>
            </a:r>
            <a:endParaRPr lang="en-US" sz="4000" dirty="0"/>
          </a:p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quadro, de um teto de 16,7 ms (60 qps). Pior quadro: 0,8 ms.</a:t>
            </a:r>
            <a:endParaRPr lang="en-US" sz="40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i5-12400F, 16 GB, RTX 3060, Windows 11, Chrome 150, regime de tela. Mede CPU, não GPU.</a:t>
            </a:r>
            <a:endParaRPr lang="en-US" sz="4000" dirty="0"/>
          </a:p>
        </p:txBody>
      </p:sp>
      <p:pic>
        <p:nvPicPr>
          <p:cNvPr id="11" name="Image 0" descr="Indicador de custo do quadro dentro da cen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37360"/>
            <a:ext cx="3154680" cy="182639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937760" y="360947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preso à câmera, dentro da cena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0" y="4123944"/>
            <a:ext cx="128016" cy="128016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38928" y="4069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0" y="438912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Contando quadros, uma peça a 1 cm por quadro anda 0,6 m/s num monitor de 60 Hz e 1,44 m/s num de 144 Hz. Com delta, a mesma velocidade em qualquer máquina. O indicador atualiza a cada 0,5 s de relógio, não a cada 30 quadros.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NÃO FUNCIONA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17830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1783080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Encaixe nos furos e validação do circuito: o LED ainda não acende.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23865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2386584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Ancoragem da placa no AR. Hoje o toque planta um cilindro de teste.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2990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0" y="2990088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degradação (sombras, LOD, antialiasing).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412480" y="35935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3593592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XRScene.update(delta) está vazio: só o indicador usa o delta.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412480" y="41970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0" y="4197096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furos em malhas separadas; a especificação prevê InstancedMesh.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412480" y="4800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0" y="4800600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emulador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visor </a:t>
            </a: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54041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144000" y="5404104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THREE.Clock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obsoleto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three r185; </a:t>
            </a: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THREE.Timer</a:t>
            </a: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1823</Words>
  <Application>Microsoft Office PowerPoint</Application>
  <PresentationFormat>Widescreen</PresentationFormat>
  <Paragraphs>217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UNIMAR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Grupo 05 - Módulo 03</dc:title>
  <dc:subject>Projeto Integrador - Módulo 03</dc:subject>
  <dc:creator>Grupo 5</dc:creator>
  <cp:lastModifiedBy>Win11</cp:lastModifiedBy>
  <cp:revision>3</cp:revision>
  <dcterms:created xsi:type="dcterms:W3CDTF">2026-09-29T21:26:14Z</dcterms:created>
  <dcterms:modified xsi:type="dcterms:W3CDTF">2026-09-30T20:51:40Z</dcterms:modified>
</cp:coreProperties>
</file>